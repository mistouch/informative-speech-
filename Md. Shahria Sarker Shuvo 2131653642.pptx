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elegraf Bold" charset="1" panose="00000800000000000000"/>
      <p:regular r:id="rId12"/>
    </p:embeddedFont>
    <p:embeddedFont>
      <p:font typeface="Telegraf" charset="1" panose="00000500000000000000"/>
      <p:regular r:id="rId13"/>
    </p:embeddedFont>
    <p:embeddedFont>
      <p:font typeface="Canva Sans" charset="1" panose="020B0503030501040103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7191375" cy="8953500"/>
            <a:chOff x="0" y="0"/>
            <a:chExt cx="928643" cy="1156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8643" cy="1156192"/>
            </a:xfrm>
            <a:custGeom>
              <a:avLst/>
              <a:gdLst/>
              <a:ahLst/>
              <a:cxnLst/>
              <a:rect r="r" b="b" t="t" l="l"/>
              <a:pathLst>
                <a:path h="1156192" w="928643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66750"/>
            <a:ext cx="8324850" cy="5405760"/>
            <a:chOff x="0" y="0"/>
            <a:chExt cx="11099800" cy="72076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74750"/>
              <a:ext cx="11099800" cy="6032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40"/>
                </a:lnSpc>
              </a:pPr>
              <a:r>
                <a:rPr lang="en-US" b="true" sz="6400" spc="-64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If AI is p</a:t>
              </a:r>
              <a:r>
                <a:rPr lang="en-US" b="true" sz="6400" spc="-64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erforming better than human doctors, should it be allowed to make medical descisions?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1099800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9"/>
                </a:lnSpc>
              </a:pPr>
              <a:r>
                <a:rPr lang="en-US" b="true" sz="2999" spc="-29">
                  <a:solidFill>
                    <a:srgbClr val="A6B1C9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The Future of Medicine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8753475"/>
            <a:ext cx="832485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spc="-29">
                <a:solidFill>
                  <a:srgbClr val="F0F4F8"/>
                </a:solidFill>
                <a:latin typeface="Telegraf"/>
                <a:ea typeface="Telegraf"/>
                <a:cs typeface="Telegraf"/>
                <a:sym typeface="Telegraf"/>
              </a:rPr>
              <a:t>Md. Shahria Sarker Shuvo</a:t>
            </a:r>
          </a:p>
          <a:p>
            <a:pPr algn="l" marL="0" indent="0" lvl="0">
              <a:lnSpc>
                <a:spcPts val="3299"/>
              </a:lnSpc>
            </a:pPr>
            <a:r>
              <a:rPr lang="en-US" sz="2999" spc="-29">
                <a:solidFill>
                  <a:srgbClr val="F0F4F8"/>
                </a:solidFill>
                <a:latin typeface="Telegraf"/>
                <a:ea typeface="Telegraf"/>
                <a:cs typeface="Telegraf"/>
                <a:sym typeface="Telegraf"/>
              </a:rPr>
              <a:t>2131653642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B96A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0F4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143003" y="4277327"/>
            <a:ext cx="7478247" cy="4949240"/>
          </a:xfrm>
          <a:custGeom>
            <a:avLst/>
            <a:gdLst/>
            <a:ahLst/>
            <a:cxnLst/>
            <a:rect r="r" b="b" t="t" l="l"/>
            <a:pathLst>
              <a:path h="4949240" w="7478247">
                <a:moveTo>
                  <a:pt x="0" y="0"/>
                </a:moveTo>
                <a:lnTo>
                  <a:pt x="7478247" y="0"/>
                </a:lnTo>
                <a:lnTo>
                  <a:pt x="7478247" y="4949239"/>
                </a:lnTo>
                <a:lnTo>
                  <a:pt x="0" y="4949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84991" y="2934555"/>
            <a:ext cx="11090664" cy="1728403"/>
            <a:chOff x="0" y="0"/>
            <a:chExt cx="14787552" cy="230453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4787552" cy="1708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29"/>
                </a:lnSpc>
              </a:pPr>
              <a:r>
                <a:rPr lang="en-US" b="true" sz="4390" spc="-43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</a:t>
              </a:r>
              <a:r>
                <a:rPr lang="en-US" b="true" sz="4390" spc="-43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ree reasons why humans and doctors should work together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912693"/>
              <a:ext cx="14787552" cy="391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6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6750" y="4996333"/>
            <a:ext cx="4937224" cy="52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70065" indent="-335033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</a:t>
            </a:r>
            <a:r>
              <a:rPr lang="en-US" sz="3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erhuman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" y="5847950"/>
            <a:ext cx="4007941" cy="51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5163" indent="-327582" lvl="1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30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Power of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6685272"/>
            <a:ext cx="3576935" cy="53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81468" indent="-340734" lvl="1">
              <a:lnSpc>
                <a:spcPts val="441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Fair Healthcare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069341"/>
            <a:ext cx="58769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YES, But not alone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267810"/>
            <a:ext cx="5448300" cy="2324064"/>
            <a:chOff x="0" y="0"/>
            <a:chExt cx="7264400" cy="309875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470101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7264400" cy="17526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50"/>
                </a:lnSpc>
              </a:pPr>
              <a:r>
                <a:rPr lang="en-US" b="true" sz="4500" spc="-45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Superhuman Accuracy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05195" y="1207740"/>
            <a:ext cx="4716749" cy="6976170"/>
            <a:chOff x="0" y="0"/>
            <a:chExt cx="643859" cy="952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57448" y="0"/>
                  </a:moveTo>
                  <a:lnTo>
                    <a:pt x="586411" y="0"/>
                  </a:lnTo>
                  <a:cubicBezTo>
                    <a:pt x="618139" y="0"/>
                    <a:pt x="643859" y="25720"/>
                    <a:pt x="643859" y="57448"/>
                  </a:cubicBezTo>
                  <a:lnTo>
                    <a:pt x="643859" y="894834"/>
                  </a:lnTo>
                  <a:cubicBezTo>
                    <a:pt x="643859" y="926561"/>
                    <a:pt x="618139" y="952281"/>
                    <a:pt x="586411" y="952281"/>
                  </a:cubicBezTo>
                  <a:lnTo>
                    <a:pt x="57448" y="952281"/>
                  </a:lnTo>
                  <a:cubicBezTo>
                    <a:pt x="25720" y="952281"/>
                    <a:pt x="0" y="926561"/>
                    <a:pt x="0" y="894834"/>
                  </a:cubicBezTo>
                  <a:lnTo>
                    <a:pt x="0" y="57448"/>
                  </a:lnTo>
                  <a:cubicBezTo>
                    <a:pt x="0" y="25720"/>
                    <a:pt x="25720" y="0"/>
                    <a:pt x="5744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6" r="0" b="-17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6B1C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61631" y="1207740"/>
            <a:ext cx="4716749" cy="6976170"/>
            <a:chOff x="0" y="0"/>
            <a:chExt cx="643859" cy="9522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57448" y="0"/>
                  </a:moveTo>
                  <a:lnTo>
                    <a:pt x="586411" y="0"/>
                  </a:lnTo>
                  <a:cubicBezTo>
                    <a:pt x="618139" y="0"/>
                    <a:pt x="643859" y="25720"/>
                    <a:pt x="643859" y="57448"/>
                  </a:cubicBezTo>
                  <a:lnTo>
                    <a:pt x="643859" y="894834"/>
                  </a:lnTo>
                  <a:cubicBezTo>
                    <a:pt x="643859" y="926561"/>
                    <a:pt x="618139" y="952281"/>
                    <a:pt x="586411" y="952281"/>
                  </a:cubicBezTo>
                  <a:lnTo>
                    <a:pt x="57448" y="952281"/>
                  </a:lnTo>
                  <a:cubicBezTo>
                    <a:pt x="25720" y="952281"/>
                    <a:pt x="0" y="926561"/>
                    <a:pt x="0" y="894834"/>
                  </a:cubicBezTo>
                  <a:lnTo>
                    <a:pt x="0" y="57448"/>
                  </a:lnTo>
                  <a:cubicBezTo>
                    <a:pt x="0" y="25720"/>
                    <a:pt x="25720" y="0"/>
                    <a:pt x="5744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76" r="0" b="-176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0F4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31951" y="3847257"/>
            <a:ext cx="7130369" cy="237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6704" indent="-293352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spots tiny, invisible patterns</a:t>
            </a:r>
          </a:p>
          <a:p>
            <a:pPr algn="l" marL="586704" indent="-293352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Never gets tired</a:t>
            </a:r>
          </a:p>
          <a:p>
            <a:pPr algn="l" marL="586704" indent="-293352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More accurate medical image detection</a:t>
            </a:r>
          </a:p>
          <a:p>
            <a:pPr algn="l" marL="586704" indent="-293352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as a powerful medical tool</a:t>
            </a:r>
          </a:p>
          <a:p>
            <a:pPr algn="l">
              <a:lnSpc>
                <a:spcPts val="380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0853" y="824405"/>
            <a:ext cx="5901559" cy="1914042"/>
            <a:chOff x="0" y="0"/>
            <a:chExt cx="7868745" cy="255205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78876"/>
              <a:ext cx="7868745" cy="573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51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7868745" cy="1316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119"/>
                </a:lnSpc>
              </a:pPr>
              <a:r>
                <a:rPr lang="en-US" b="true" sz="6472" spc="-64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Power of Data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95406" y="1267258"/>
            <a:ext cx="4592265" cy="6792057"/>
            <a:chOff x="0" y="0"/>
            <a:chExt cx="643859" cy="952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59005" y="0"/>
                  </a:moveTo>
                  <a:lnTo>
                    <a:pt x="584854" y="0"/>
                  </a:lnTo>
                  <a:cubicBezTo>
                    <a:pt x="617442" y="0"/>
                    <a:pt x="643859" y="26417"/>
                    <a:pt x="643859" y="59005"/>
                  </a:cubicBezTo>
                  <a:lnTo>
                    <a:pt x="643859" y="893276"/>
                  </a:lnTo>
                  <a:cubicBezTo>
                    <a:pt x="643859" y="908925"/>
                    <a:pt x="637643" y="923934"/>
                    <a:pt x="626577" y="934999"/>
                  </a:cubicBezTo>
                  <a:cubicBezTo>
                    <a:pt x="615512" y="946065"/>
                    <a:pt x="600503" y="952281"/>
                    <a:pt x="584854" y="952281"/>
                  </a:cubicBezTo>
                  <a:lnTo>
                    <a:pt x="59005" y="952281"/>
                  </a:lnTo>
                  <a:cubicBezTo>
                    <a:pt x="43356" y="952281"/>
                    <a:pt x="28348" y="946065"/>
                    <a:pt x="17282" y="934999"/>
                  </a:cubicBezTo>
                  <a:cubicBezTo>
                    <a:pt x="6217" y="923934"/>
                    <a:pt x="0" y="908925"/>
                    <a:pt x="0" y="893276"/>
                  </a:cubicBezTo>
                  <a:lnTo>
                    <a:pt x="0" y="59005"/>
                  </a:lnTo>
                  <a:cubicBezTo>
                    <a:pt x="0" y="43356"/>
                    <a:pt x="6217" y="28348"/>
                    <a:pt x="17282" y="17282"/>
                  </a:cubicBezTo>
                  <a:cubicBezTo>
                    <a:pt x="28348" y="6217"/>
                    <a:pt x="43356" y="0"/>
                    <a:pt x="5900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6" r="0" b="-17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B96A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30200" y="1267258"/>
            <a:ext cx="4592265" cy="6792057"/>
            <a:chOff x="0" y="0"/>
            <a:chExt cx="643859" cy="9522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59005" y="0"/>
                  </a:moveTo>
                  <a:lnTo>
                    <a:pt x="584854" y="0"/>
                  </a:lnTo>
                  <a:cubicBezTo>
                    <a:pt x="617442" y="0"/>
                    <a:pt x="643859" y="26417"/>
                    <a:pt x="643859" y="59005"/>
                  </a:cubicBezTo>
                  <a:lnTo>
                    <a:pt x="643859" y="893276"/>
                  </a:lnTo>
                  <a:cubicBezTo>
                    <a:pt x="643859" y="908925"/>
                    <a:pt x="637643" y="923934"/>
                    <a:pt x="626577" y="934999"/>
                  </a:cubicBezTo>
                  <a:cubicBezTo>
                    <a:pt x="615512" y="946065"/>
                    <a:pt x="600503" y="952281"/>
                    <a:pt x="584854" y="952281"/>
                  </a:cubicBezTo>
                  <a:lnTo>
                    <a:pt x="59005" y="952281"/>
                  </a:lnTo>
                  <a:cubicBezTo>
                    <a:pt x="43356" y="952281"/>
                    <a:pt x="28348" y="946065"/>
                    <a:pt x="17282" y="934999"/>
                  </a:cubicBezTo>
                  <a:cubicBezTo>
                    <a:pt x="6217" y="923934"/>
                    <a:pt x="0" y="908925"/>
                    <a:pt x="0" y="893276"/>
                  </a:cubicBezTo>
                  <a:lnTo>
                    <a:pt x="0" y="59005"/>
                  </a:lnTo>
                  <a:cubicBezTo>
                    <a:pt x="0" y="43356"/>
                    <a:pt x="6217" y="28348"/>
                    <a:pt x="17282" y="17282"/>
                  </a:cubicBezTo>
                  <a:cubicBezTo>
                    <a:pt x="28348" y="6217"/>
                    <a:pt x="43356" y="0"/>
                    <a:pt x="5900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76" r="0" b="-176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0F4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84606" y="3243416"/>
            <a:ext cx="806827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reads millions of medical records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Faster rare-disease detection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Data-driven treatment suggestions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Human touch still essential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6719406"/>
            <a:ext cx="6054871" cy="65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37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“C</a:t>
            </a:r>
            <a:r>
              <a:rPr lang="en-US" sz="37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we trust a machine?”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0853" y="8082603"/>
            <a:ext cx="12715875" cy="146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Who will hol</a:t>
            </a: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your hand when you get bad news?</a:t>
            </a:r>
          </a:p>
          <a:p>
            <a:pPr algn="l">
              <a:lnSpc>
                <a:spcPts val="3943"/>
              </a:lnSpc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Who will understand your fear and explain things with emotion? A doctor.</a:t>
            </a:r>
          </a:p>
          <a:p>
            <a:pPr algn="l">
              <a:lnSpc>
                <a:spcPts val="394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B96A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058150"/>
            <a:chOff x="0" y="0"/>
            <a:chExt cx="813829" cy="952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3829" cy="952281"/>
            </a:xfrm>
            <a:custGeom>
              <a:avLst/>
              <a:gdLst/>
              <a:ahLst/>
              <a:cxnLst/>
              <a:rect r="r" b="b" t="t" l="l"/>
              <a:pathLst>
                <a:path h="952281" w="813829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7" r="0" b="-19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34450" y="2105353"/>
            <a:ext cx="8324850" cy="4042952"/>
            <a:chOff x="0" y="0"/>
            <a:chExt cx="11099800" cy="539060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3062269"/>
              <a:ext cx="11099800" cy="2328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 spc="-25">
                  <a:solidFill>
                    <a:srgbClr val="F0F4F8"/>
                  </a:solidFill>
                  <a:latin typeface="Telegraf"/>
                  <a:ea typeface="Telegraf"/>
                  <a:cs typeface="Telegraf"/>
                  <a:sym typeface="Telegraf"/>
                </a:rPr>
                <a:t>Advanced technologies can provide </a:t>
              </a:r>
              <a:r>
                <a:rPr lang="en-US" b="true" sz="2500" spc="-25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expert medical assistance</a:t>
              </a:r>
              <a:r>
                <a:rPr lang="en-US" sz="2500" spc="-25">
                  <a:solidFill>
                    <a:srgbClr val="F0F4F8"/>
                  </a:solidFill>
                  <a:latin typeface="Telegraf"/>
                  <a:ea typeface="Telegraf"/>
                  <a:cs typeface="Telegraf"/>
                  <a:sym typeface="Telegraf"/>
                </a:rPr>
                <a:t> to both urban and rural communities, ensuring everyone has access to quality healthcare, regardless of their location or circumstances.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266950"/>
              <a:ext cx="110998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A6B1C9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Bridging Healthcare Inequalities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11099800" cy="1423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Access for All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0F4F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91528" y="3965542"/>
            <a:ext cx="5614476" cy="152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02"/>
              </a:lnSpc>
            </a:pPr>
            <a:r>
              <a:rPr lang="en-US" sz="885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DAG5HRy4VwE</dc:identifier>
  <dcterms:modified xsi:type="dcterms:W3CDTF">2011-08-01T06:04:30Z</dcterms:modified>
  <cp:revision>1</cp:revision>
  <dc:title>Md. Shahria Sarker Shuvo 2131653642</dc:title>
</cp:coreProperties>
</file>