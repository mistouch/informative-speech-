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" panose="020B0604020202020204" charset="0"/>
      <p:regular r:id="rId8"/>
    </p:embeddedFont>
    <p:embeddedFont>
      <p:font typeface="Canva Sans Bold" panose="020B0604020202020204" charset="0"/>
      <p:regular r:id="rId9"/>
    </p:embeddedFont>
    <p:embeddedFont>
      <p:font typeface="Telegraf" panose="020B0604020202020204" charset="0"/>
      <p:regular r:id="rId10"/>
    </p:embeddedFont>
    <p:embeddedFont>
      <p:font typeface="Telegraf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7" d="100"/>
          <a:sy n="107" d="100"/>
        </p:scale>
        <p:origin x="294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53500"/>
            <a:chOff x="0" y="0"/>
            <a:chExt cx="928643" cy="11561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643" cy="1156192"/>
            </a:xfrm>
            <a:custGeom>
              <a:avLst/>
              <a:gdLst/>
              <a:ahLst/>
              <a:cxnLst/>
              <a:rect l="l" t="t" r="r" b="b"/>
              <a:pathLst>
                <a:path w="928643" h="1156192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5405760"/>
            <a:chOff x="0" y="0"/>
            <a:chExt cx="11099800" cy="7207680"/>
          </a:xfrm>
        </p:grpSpPr>
        <p:sp>
          <p:nvSpPr>
            <p:cNvPr id="8" name="TextBox 8"/>
            <p:cNvSpPr txBox="1"/>
            <p:nvPr/>
          </p:nvSpPr>
          <p:spPr>
            <a:xfrm>
              <a:off x="0" y="1174750"/>
              <a:ext cx="11099800" cy="6032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40"/>
                </a:lnSpc>
              </a:pPr>
              <a:r>
                <a:rPr lang="en-US" sz="6400" b="1" spc="-64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If AI is performing better than human doctors, should it be allowed to make medical descisions?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099800" cy="606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9"/>
                </a:lnSpc>
              </a:pPr>
              <a:r>
                <a:rPr lang="en-US" sz="2999" b="1" spc="-29">
                  <a:solidFill>
                    <a:srgbClr val="A6B1C9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The Future of Medicine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8753475"/>
            <a:ext cx="832485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spc="-29">
                <a:solidFill>
                  <a:srgbClr val="F0F4F8"/>
                </a:solidFill>
                <a:latin typeface="Telegraf"/>
                <a:ea typeface="Telegraf"/>
                <a:cs typeface="Telegraf"/>
                <a:sym typeface="Telegraf"/>
              </a:rPr>
              <a:t>Md. Shahria Sarker Shuvo</a:t>
            </a:r>
          </a:p>
          <a:p>
            <a:pPr marL="0" lvl="0" indent="0" algn="l">
              <a:lnSpc>
                <a:spcPts val="3299"/>
              </a:lnSpc>
            </a:pPr>
            <a:r>
              <a:rPr lang="en-US" sz="2999" spc="-29">
                <a:solidFill>
                  <a:srgbClr val="F0F4F8"/>
                </a:solidFill>
                <a:latin typeface="Telegraf"/>
                <a:ea typeface="Telegraf"/>
                <a:cs typeface="Telegraf"/>
                <a:sym typeface="Telegraf"/>
              </a:rPr>
              <a:t>2131653642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B96A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9296400" y="4130359"/>
            <a:ext cx="7478247" cy="4949240"/>
          </a:xfrm>
          <a:custGeom>
            <a:avLst/>
            <a:gdLst/>
            <a:ahLst/>
            <a:cxnLst/>
            <a:rect l="l" t="t" r="r" b="b"/>
            <a:pathLst>
              <a:path w="7478247" h="4949240">
                <a:moveTo>
                  <a:pt x="0" y="0"/>
                </a:moveTo>
                <a:lnTo>
                  <a:pt x="7478247" y="0"/>
                </a:lnTo>
                <a:lnTo>
                  <a:pt x="7478247" y="4949239"/>
                </a:lnTo>
                <a:lnTo>
                  <a:pt x="0" y="4949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84991" y="2934555"/>
            <a:ext cx="11090664" cy="1728403"/>
            <a:chOff x="0" y="0"/>
            <a:chExt cx="14787552" cy="2304537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14787552" cy="1708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29"/>
                </a:lnSpc>
              </a:pPr>
              <a:r>
                <a:rPr lang="en-US" sz="4390" b="1" spc="-43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Three reasons why humans and doctors should work together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12693"/>
              <a:ext cx="14787552" cy="391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06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66750" y="4996333"/>
            <a:ext cx="5810250" cy="521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70065" lvl="1" indent="-335033" algn="ctr">
              <a:lnSpc>
                <a:spcPts val="4345"/>
              </a:lnSpc>
              <a:buFont typeface="Arial"/>
              <a:buChar char="•"/>
            </a:pPr>
            <a:r>
              <a:rPr lang="en-US" sz="310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Superhuman Accuracy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6800" y="5806001"/>
            <a:ext cx="4667250" cy="513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55163" lvl="1" indent="-327582" algn="l">
              <a:lnSpc>
                <a:spcPts val="4248"/>
              </a:lnSpc>
              <a:buFont typeface="Arial"/>
              <a:buChar char="•"/>
            </a:pPr>
            <a:r>
              <a:rPr lang="en-US" sz="303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Power of 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6750" y="6685272"/>
            <a:ext cx="4362450" cy="538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1468" lvl="1" indent="-340734" algn="ctr">
              <a:lnSpc>
                <a:spcPts val="4418"/>
              </a:lnSpc>
              <a:buFont typeface="Arial"/>
              <a:buChar char="•"/>
            </a:pPr>
            <a:r>
              <a:rPr lang="en-US" sz="315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Fair Healthcare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6750" y="1069341"/>
            <a:ext cx="603885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YES, But not alone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267810"/>
            <a:ext cx="5448300" cy="2324064"/>
            <a:chOff x="0" y="0"/>
            <a:chExt cx="7264400" cy="3098751"/>
          </a:xfrm>
        </p:grpSpPr>
        <p:sp>
          <p:nvSpPr>
            <p:cNvPr id="3" name="TextBox 3"/>
            <p:cNvSpPr txBox="1"/>
            <p:nvPr/>
          </p:nvSpPr>
          <p:spPr>
            <a:xfrm>
              <a:off x="0" y="2470101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7264400" cy="1752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50"/>
                </a:lnSpc>
              </a:pPr>
              <a:r>
                <a:rPr lang="en-US" sz="4500" b="1" spc="-45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Superhuman Accuracy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05195" y="1207740"/>
            <a:ext cx="4716749" cy="6976170"/>
            <a:chOff x="0" y="0"/>
            <a:chExt cx="64385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57448" y="0"/>
                  </a:moveTo>
                  <a:lnTo>
                    <a:pt x="586411" y="0"/>
                  </a:lnTo>
                  <a:cubicBezTo>
                    <a:pt x="618139" y="0"/>
                    <a:pt x="643859" y="25720"/>
                    <a:pt x="643859" y="57448"/>
                  </a:cubicBezTo>
                  <a:lnTo>
                    <a:pt x="643859" y="894834"/>
                  </a:lnTo>
                  <a:cubicBezTo>
                    <a:pt x="643859" y="926561"/>
                    <a:pt x="618139" y="952281"/>
                    <a:pt x="586411" y="952281"/>
                  </a:cubicBezTo>
                  <a:lnTo>
                    <a:pt x="57448" y="952281"/>
                  </a:lnTo>
                  <a:cubicBezTo>
                    <a:pt x="25720" y="952281"/>
                    <a:pt x="0" y="926561"/>
                    <a:pt x="0" y="894834"/>
                  </a:cubicBezTo>
                  <a:lnTo>
                    <a:pt x="0" y="57448"/>
                  </a:lnTo>
                  <a:cubicBezTo>
                    <a:pt x="0" y="25720"/>
                    <a:pt x="25720" y="0"/>
                    <a:pt x="57448" y="0"/>
                  </a:cubicBezTo>
                  <a:close/>
                </a:path>
              </a:pathLst>
            </a:custGeom>
            <a:blipFill>
              <a:blip r:embed="rId2"/>
              <a:stretch>
                <a:fillRect t="-176" b="-1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6B1C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261631" y="1207740"/>
            <a:ext cx="4716749" cy="6976170"/>
            <a:chOff x="0" y="0"/>
            <a:chExt cx="643859" cy="9522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57448" y="0"/>
                  </a:moveTo>
                  <a:lnTo>
                    <a:pt x="586411" y="0"/>
                  </a:lnTo>
                  <a:cubicBezTo>
                    <a:pt x="618139" y="0"/>
                    <a:pt x="643859" y="25720"/>
                    <a:pt x="643859" y="57448"/>
                  </a:cubicBezTo>
                  <a:lnTo>
                    <a:pt x="643859" y="894834"/>
                  </a:lnTo>
                  <a:cubicBezTo>
                    <a:pt x="643859" y="926561"/>
                    <a:pt x="618139" y="952281"/>
                    <a:pt x="586411" y="952281"/>
                  </a:cubicBezTo>
                  <a:lnTo>
                    <a:pt x="57448" y="952281"/>
                  </a:lnTo>
                  <a:cubicBezTo>
                    <a:pt x="25720" y="952281"/>
                    <a:pt x="0" y="926561"/>
                    <a:pt x="0" y="894834"/>
                  </a:cubicBezTo>
                  <a:lnTo>
                    <a:pt x="0" y="57448"/>
                  </a:lnTo>
                  <a:cubicBezTo>
                    <a:pt x="0" y="25720"/>
                    <a:pt x="25720" y="0"/>
                    <a:pt x="57448" y="0"/>
                  </a:cubicBezTo>
                  <a:close/>
                </a:path>
              </a:pathLst>
            </a:custGeom>
            <a:blipFill>
              <a:blip r:embed="rId3"/>
              <a:stretch>
                <a:fillRect t="-176" b="-176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31951" y="3847257"/>
            <a:ext cx="7130369" cy="237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6704" lvl="1" indent="-293352" algn="l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spots tiny, invisible patterns</a:t>
            </a:r>
          </a:p>
          <a:p>
            <a:pPr marL="586704" lvl="1" indent="-293352" algn="l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Never gets tired</a:t>
            </a:r>
          </a:p>
          <a:p>
            <a:pPr marL="586704" lvl="1" indent="-293352" algn="l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More accurate medical image detection</a:t>
            </a:r>
          </a:p>
          <a:p>
            <a:pPr marL="586704" lvl="1" indent="-293352" algn="l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as a powerful medical tool</a:t>
            </a:r>
          </a:p>
          <a:p>
            <a:pPr algn="l">
              <a:lnSpc>
                <a:spcPts val="3804"/>
              </a:lnSpc>
            </a:pPr>
            <a:endParaRPr lang="en-US" sz="271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0853" y="824405"/>
            <a:ext cx="5901559" cy="1914042"/>
            <a:chOff x="0" y="0"/>
            <a:chExt cx="7868745" cy="2552055"/>
          </a:xfrm>
        </p:grpSpPr>
        <p:sp>
          <p:nvSpPr>
            <p:cNvPr id="3" name="TextBox 3"/>
            <p:cNvSpPr txBox="1"/>
            <p:nvPr/>
          </p:nvSpPr>
          <p:spPr>
            <a:xfrm>
              <a:off x="0" y="1978876"/>
              <a:ext cx="7868745" cy="5731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51"/>
                </a:lnSpc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7868745" cy="1316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119"/>
                </a:lnSpc>
              </a:pPr>
              <a:r>
                <a:rPr lang="en-US" sz="6472" b="1" spc="-64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Power of Data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95406" y="1267258"/>
            <a:ext cx="4592265" cy="6792057"/>
            <a:chOff x="0" y="0"/>
            <a:chExt cx="64385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59005" y="0"/>
                  </a:moveTo>
                  <a:lnTo>
                    <a:pt x="584854" y="0"/>
                  </a:lnTo>
                  <a:cubicBezTo>
                    <a:pt x="617442" y="0"/>
                    <a:pt x="643859" y="26417"/>
                    <a:pt x="643859" y="59005"/>
                  </a:cubicBezTo>
                  <a:lnTo>
                    <a:pt x="643859" y="893276"/>
                  </a:lnTo>
                  <a:cubicBezTo>
                    <a:pt x="643859" y="908925"/>
                    <a:pt x="637643" y="923934"/>
                    <a:pt x="626577" y="934999"/>
                  </a:cubicBezTo>
                  <a:cubicBezTo>
                    <a:pt x="615512" y="946065"/>
                    <a:pt x="600503" y="952281"/>
                    <a:pt x="584854" y="952281"/>
                  </a:cubicBezTo>
                  <a:lnTo>
                    <a:pt x="59005" y="952281"/>
                  </a:lnTo>
                  <a:cubicBezTo>
                    <a:pt x="43356" y="952281"/>
                    <a:pt x="28348" y="946065"/>
                    <a:pt x="17282" y="934999"/>
                  </a:cubicBezTo>
                  <a:cubicBezTo>
                    <a:pt x="6217" y="923934"/>
                    <a:pt x="0" y="908925"/>
                    <a:pt x="0" y="893276"/>
                  </a:cubicBezTo>
                  <a:lnTo>
                    <a:pt x="0" y="59005"/>
                  </a:lnTo>
                  <a:cubicBezTo>
                    <a:pt x="0" y="43356"/>
                    <a:pt x="6217" y="28348"/>
                    <a:pt x="17282" y="17282"/>
                  </a:cubicBezTo>
                  <a:cubicBezTo>
                    <a:pt x="28348" y="6217"/>
                    <a:pt x="43356" y="0"/>
                    <a:pt x="59005" y="0"/>
                  </a:cubicBezTo>
                  <a:close/>
                </a:path>
              </a:pathLst>
            </a:custGeom>
            <a:blipFill>
              <a:blip r:embed="rId2"/>
              <a:stretch>
                <a:fillRect t="-176" b="-1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B96A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030200" y="1267258"/>
            <a:ext cx="4592265" cy="6792057"/>
            <a:chOff x="0" y="0"/>
            <a:chExt cx="643859" cy="9522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59005" y="0"/>
                  </a:moveTo>
                  <a:lnTo>
                    <a:pt x="584854" y="0"/>
                  </a:lnTo>
                  <a:cubicBezTo>
                    <a:pt x="617442" y="0"/>
                    <a:pt x="643859" y="26417"/>
                    <a:pt x="643859" y="59005"/>
                  </a:cubicBezTo>
                  <a:lnTo>
                    <a:pt x="643859" y="893276"/>
                  </a:lnTo>
                  <a:cubicBezTo>
                    <a:pt x="643859" y="908925"/>
                    <a:pt x="637643" y="923934"/>
                    <a:pt x="626577" y="934999"/>
                  </a:cubicBezTo>
                  <a:cubicBezTo>
                    <a:pt x="615512" y="946065"/>
                    <a:pt x="600503" y="952281"/>
                    <a:pt x="584854" y="952281"/>
                  </a:cubicBezTo>
                  <a:lnTo>
                    <a:pt x="59005" y="952281"/>
                  </a:lnTo>
                  <a:cubicBezTo>
                    <a:pt x="43356" y="952281"/>
                    <a:pt x="28348" y="946065"/>
                    <a:pt x="17282" y="934999"/>
                  </a:cubicBezTo>
                  <a:cubicBezTo>
                    <a:pt x="6217" y="923934"/>
                    <a:pt x="0" y="908925"/>
                    <a:pt x="0" y="893276"/>
                  </a:cubicBezTo>
                  <a:lnTo>
                    <a:pt x="0" y="59005"/>
                  </a:lnTo>
                  <a:cubicBezTo>
                    <a:pt x="0" y="43356"/>
                    <a:pt x="6217" y="28348"/>
                    <a:pt x="17282" y="17282"/>
                  </a:cubicBezTo>
                  <a:cubicBezTo>
                    <a:pt x="28348" y="6217"/>
                    <a:pt x="43356" y="0"/>
                    <a:pt x="59005" y="0"/>
                  </a:cubicBezTo>
                  <a:close/>
                </a:path>
              </a:pathLst>
            </a:custGeom>
            <a:blipFill>
              <a:blip r:embed="rId3"/>
              <a:stretch>
                <a:fillRect t="-176" b="-176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84606" y="3243416"/>
            <a:ext cx="8068270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reads millions of medical records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Faster rare-disease detection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Data-driven treatment suggestions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Human touch still essential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66750" y="6719406"/>
            <a:ext cx="6054871" cy="6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7"/>
              </a:lnSpc>
            </a:pPr>
            <a:r>
              <a:rPr lang="en-US" sz="37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“Can we trust a machine?”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0853" y="8082603"/>
            <a:ext cx="12715875" cy="146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3"/>
              </a:lnSpc>
            </a:pPr>
            <a:r>
              <a:rPr lang="en-US" sz="28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Who will hold your hand when you get bad news?</a:t>
            </a:r>
          </a:p>
          <a:p>
            <a:pPr algn="l">
              <a:lnSpc>
                <a:spcPts val="3943"/>
              </a:lnSpc>
            </a:pPr>
            <a:r>
              <a:rPr lang="en-US" sz="28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Who will understand your fear and explain things with emotion? A doctor.</a:t>
            </a:r>
          </a:p>
          <a:p>
            <a:pPr algn="l">
              <a:lnSpc>
                <a:spcPts val="3943"/>
              </a:lnSpc>
            </a:pPr>
            <a:endParaRPr lang="en-US" sz="281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B96A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058150"/>
            <a:chOff x="0" y="0"/>
            <a:chExt cx="81382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3829" cy="952281"/>
            </a:xfrm>
            <a:custGeom>
              <a:avLst/>
              <a:gdLst/>
              <a:ahLst/>
              <a:cxnLst/>
              <a:rect l="l" t="t" r="r" b="b"/>
              <a:pathLst>
                <a:path w="813829" h="952281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t="-197" b="-1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8934450" y="2105353"/>
            <a:ext cx="8324850" cy="4042952"/>
            <a:chOff x="0" y="0"/>
            <a:chExt cx="11099800" cy="5390602"/>
          </a:xfrm>
        </p:grpSpPr>
        <p:sp>
          <p:nvSpPr>
            <p:cNvPr id="8" name="TextBox 8"/>
            <p:cNvSpPr txBox="1"/>
            <p:nvPr/>
          </p:nvSpPr>
          <p:spPr>
            <a:xfrm>
              <a:off x="0" y="3062269"/>
              <a:ext cx="11099800" cy="23283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</a:pPr>
              <a:r>
                <a:rPr lang="en-US" sz="2500" spc="-25">
                  <a:solidFill>
                    <a:srgbClr val="F0F4F8"/>
                  </a:solidFill>
                  <a:latin typeface="Telegraf"/>
                  <a:ea typeface="Telegraf"/>
                  <a:cs typeface="Telegraf"/>
                  <a:sym typeface="Telegraf"/>
                </a:rPr>
                <a:t>Advanced technologies can provide </a:t>
              </a:r>
              <a:r>
                <a:rPr lang="en-US" sz="2500" b="1" spc="-25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expert medical assistance</a:t>
              </a:r>
              <a:r>
                <a:rPr lang="en-US" sz="2500" spc="-25">
                  <a:solidFill>
                    <a:srgbClr val="F0F4F8"/>
                  </a:solidFill>
                  <a:latin typeface="Telegraf"/>
                  <a:ea typeface="Telegraf"/>
                  <a:cs typeface="Telegraf"/>
                  <a:sym typeface="Telegraf"/>
                </a:rPr>
                <a:t> to both urban and rural communities, ensuring everyone has access to quality healthcare, regardless of their location or circumstances.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2669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6B1C9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Bridging Healthcare Inequalities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Access for All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91528" y="3965542"/>
            <a:ext cx="5614476" cy="1529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02"/>
              </a:lnSpc>
            </a:pPr>
            <a:r>
              <a:rPr lang="en-US" sz="8858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160</Words>
  <Application>Microsoft Office PowerPoint</Application>
  <PresentationFormat>Custom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Telegraf</vt:lpstr>
      <vt:lpstr>Canva Sans Bold</vt:lpstr>
      <vt:lpstr>Telegraf Bold</vt:lpstr>
      <vt:lpstr>Calibri</vt:lpstr>
      <vt:lpstr>Arial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Md. Shahria Sarker Shuvo 2131653642</dc:title>
  <dc:creator>User</dc:creator>
  <cp:lastModifiedBy>Shuvo Sarker</cp:lastModifiedBy>
  <cp:revision>3</cp:revision>
  <dcterms:created xsi:type="dcterms:W3CDTF">2006-08-16T00:00:00Z</dcterms:created>
  <dcterms:modified xsi:type="dcterms:W3CDTF">2025-11-19T17:20:36Z</dcterms:modified>
  <dc:identifier>DAG5HRy4VwE</dc:identifier>
</cp:coreProperties>
</file>